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A CROSS-PLATFORM BRAND 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 Light"/>
              </a:rPr>
              <a:t>East
Meets
Feed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069080"/>
            <a:ext cx="548640" cy="3657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206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Calibri"/>
              </a:rPr>
              <a:t>Building @Yujia's Presence on Instagram · Douyin · Xiaohongshu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846320"/>
            <a:ext cx="1005840" cy="274320"/>
          </a:xfrm>
          <a:prstGeom prst="rect">
            <a:avLst/>
          </a:prstGeom>
          <a:solidFill>
            <a:srgbClr val="DC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87375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IG</a:t>
            </a:r>
          </a:p>
        </p:txBody>
      </p:sp>
      <p:sp>
        <p:nvSpPr>
          <p:cNvPr id="9" name="Rectangle 8"/>
          <p:cNvSpPr/>
          <p:nvPr/>
        </p:nvSpPr>
        <p:spPr>
          <a:xfrm>
            <a:off x="1892808" y="4846320"/>
            <a:ext cx="1005840" cy="2743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56816" y="487375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Douyin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08376" y="4846320"/>
            <a:ext cx="1005840" cy="274320"/>
          </a:xfrm>
          <a:prstGeom prst="rect">
            <a:avLst/>
          </a:prstGeom>
          <a:solidFill>
            <a:srgbClr val="F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2384" y="487375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XHS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852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Eric Wang  ·  Social Media &amp; Brand  ·  NYU  ·  June 2026</a:t>
            </a:r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280" y="320040"/>
            <a:ext cx="4660791" cy="62179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888080" y="0"/>
            <a:ext cx="8229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25912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28632" y="1645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999999"/>
                </a:solidFill>
                <a:latin typeface="Calibri"/>
              </a:rPr>
              <a:t>EAST MEETS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02  /  THE SUBJECT &amp;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 Light"/>
              </a:rPr>
              <a:t>She takes photos that
deserve a bigger audience.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0048" y="12527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9A96E"/>
                </a:solidFill>
                <a:latin typeface="Calibri Light"/>
              </a:rPr>
              <a:t>bigger audience.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WHO IS YUJIA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0592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Yujia Xie — Data Engineer Tech Lead at CVS, NYC.  B.S. Data Science, UCSD  ·  M.S. Data Science, Columbia.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91840"/>
            <a:ext cx="1197864" cy="237744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10128"/>
            <a:ext cx="1106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7840"/>
                </a:solidFill>
                <a:latin typeface="Calibri"/>
              </a:rPr>
              <a:t>Lifestyle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47672" y="3291840"/>
            <a:ext cx="1033271" cy="237744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39112" y="3310128"/>
            <a:ext cx="941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7840"/>
                </a:solidFill>
                <a:latin typeface="Calibri"/>
              </a:rPr>
              <a:t>Fashion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90671" y="3291840"/>
            <a:ext cx="704088" cy="237744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1" y="3310128"/>
            <a:ext cx="6126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7840"/>
                </a:solidFill>
                <a:latin typeface="Calibri"/>
              </a:rPr>
              <a:t>NYC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4487" y="3291840"/>
            <a:ext cx="1609344" cy="237744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7" y="3310128"/>
            <a:ext cx="15179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7840"/>
                </a:solidFill>
                <a:latin typeface="Calibri"/>
              </a:rPr>
              <a:t>Cross-Cultural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THE 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2,900+ combined followers across three platforms — but no consistent strategy, no cross-posting, no growth system.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754880"/>
            <a:ext cx="384048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280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96E"/>
                </a:solidFill>
                <a:latin typeface="Calibri"/>
              </a:rPr>
              <a:t>STRATEGIST  ·  ACTIVATOR  ·  PRODUCER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8439" y="320040"/>
            <a:ext cx="2863352" cy="6217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725912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28632" y="1645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999999"/>
                </a:solidFill>
                <a:latin typeface="Calibri"/>
              </a:rPr>
              <a:t>EAST MEETS FEED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03  /  PLATFORM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 Light"/>
              </a:rPr>
              <a:t>One Creator. Three Platforms. One Brand.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99999"/>
                </a:solidFill>
                <a:latin typeface="Calibri"/>
              </a:rPr>
              <a:t>Mapping @Yujia's content to the right audience on each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" y="1508760"/>
            <a:ext cx="338328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" y="1508760"/>
            <a:ext cx="3383280" cy="73152"/>
          </a:xfrm>
          <a:prstGeom prst="rect">
            <a:avLst/>
          </a:prstGeom>
          <a:solidFill>
            <a:srgbClr val="DC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" y="17373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 Light"/>
              </a:rPr>
              <a:t>Instagram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" y="208483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Calibri"/>
              </a:rPr>
              <a:t>@yujiaaa_xie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" y="2359152"/>
            <a:ext cx="2980944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" y="2514600"/>
            <a:ext cx="29809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" y="2715768"/>
            <a:ext cx="29809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English-speaking Western market · NYC creatives &amp; lifestyle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" y="3429000"/>
            <a:ext cx="29809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" y="3630168"/>
            <a:ext cx="29809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Polished lifestyle photography · editorial fashion · cultural spaces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" y="4343400"/>
            <a:ext cx="29809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TONE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" y="4544568"/>
            <a:ext cx="29809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Aspirational · Quiet luxury · Authentic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" y="5669280"/>
            <a:ext cx="2980944" cy="27432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" y="5696712"/>
            <a:ext cx="2889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7A2D"/>
                </a:solidFill>
                <a:latin typeface="Calibri"/>
              </a:rPr>
              <a:t>2,387 followers — strongest 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2836" y="1508760"/>
            <a:ext cx="338328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2836" y="1508760"/>
            <a:ext cx="3383280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4004" y="17373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 Light"/>
              </a:rPr>
              <a:t>Douyin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4004" y="208483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Calibri"/>
              </a:rPr>
              <a:t>@Xyjjj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04004" y="2359152"/>
            <a:ext cx="2980944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4004" y="2514600"/>
            <a:ext cx="29809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AUDIENCE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4004" y="2715768"/>
            <a:ext cx="29809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Chinese diaspora + mainland China · algorithm-driven discovery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4004" y="3429000"/>
            <a:ext cx="29809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CONTENT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4004" y="3630168"/>
            <a:ext cx="29809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Emotional lifestyle · poetic captions · relatable slice-of-life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04004" y="4343400"/>
            <a:ext cx="29809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TONE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4004" y="4544568"/>
            <a:ext cx="29809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Poetic · Resonant · Emotionally direct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04004" y="5669280"/>
            <a:ext cx="2980944" cy="27432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95444" y="5696712"/>
            <a:ext cx="2889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36200"/>
                </a:solidFill>
                <a:latin typeface="Calibri"/>
              </a:rPr>
              <a:t>Highest viral upside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51876" y="1508760"/>
            <a:ext cx="338328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51876" y="1508760"/>
            <a:ext cx="3383280" cy="73152"/>
          </a:xfrm>
          <a:prstGeom prst="rect">
            <a:avLst/>
          </a:prstGeom>
          <a:solidFill>
            <a:srgbClr val="F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53044" y="17373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 Light"/>
              </a:rPr>
              <a:t>Xiaohongshu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3044" y="208483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Calibri"/>
              </a:rPr>
              <a:t>谢雨佳 · 小红书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53044" y="2359152"/>
            <a:ext cx="2980944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53044" y="2514600"/>
            <a:ext cx="29809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AUDIENCE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3044" y="2715768"/>
            <a:ext cx="29809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Chinese women · lifestyle &amp; fashion discovery · aspiration-driven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3044" y="3429000"/>
            <a:ext cx="29809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CONTENT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3044" y="3630168"/>
            <a:ext cx="29809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Curated photo posts · location tags · OOTD &amp; cultural experiences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3044" y="4343400"/>
            <a:ext cx="29809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TONE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3044" y="4544568"/>
            <a:ext cx="29809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Aspirational · Discovery-driven · Community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53044" y="5669280"/>
            <a:ext cx="2980944" cy="274320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44484" y="5696712"/>
            <a:ext cx="28895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Calibri"/>
              </a:rPr>
              <a:t>530 followers — high engagement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6245352"/>
            <a:ext cx="11274552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62910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55555"/>
                </a:solidFill>
                <a:latin typeface="Calibri"/>
              </a:rPr>
              <a:t>TARGET AUDIENCE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0" y="6291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96E"/>
                </a:solidFill>
                <a:latin typeface="Calibri"/>
              </a:rPr>
              <a:t>Women  ·  Ages 24–35  ·  Lifestyle, Fashion &amp; Culture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25912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04  /  THE 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 Light"/>
              </a:rPr>
              <a:t>Content-First. Purely Organic.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8632" y="1645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999999"/>
                </a:solidFill>
                <a:latin typeface="Calibri"/>
              </a:rPr>
              <a:t>EAST MEETS FEED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STRATEGY PILLARS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45720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3611880" cy="685800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0934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Pillar 1 — Aesthetic Visuals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85623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High-quality photography in iconic locations. Fashion-forward, editorial feel. Consistent visual identity across all platforms.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95728"/>
            <a:ext cx="45720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395728"/>
            <a:ext cx="3611880" cy="685800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45059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Pillar 2 — Resonant Captions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6974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Poetic, introspective copy that invites emotional response — or open-ended questions that pull audiences into conversation.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328416"/>
            <a:ext cx="3657600" cy="64008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832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36200"/>
                </a:solidFill>
                <a:latin typeface="Calibri"/>
              </a:rPr>
              <a:t>🚫  No Hashtags — Intentional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027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Past experience showed hashtags yielded no meaningful reach. Phase 1: let content quality speak for itself.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05656"/>
            <a:ext cx="3657600" cy="402336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696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95% Organic Distribution — no paid boosts, no promotions.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1554480"/>
            <a:ext cx="9144" cy="48463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132588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PLATFORM EXECUTION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1554480"/>
            <a:ext cx="54864" cy="822960"/>
          </a:xfrm>
          <a:prstGeom prst="rect">
            <a:avLst/>
          </a:prstGeom>
          <a:solidFill>
            <a:srgbClr val="DC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92624" y="1554480"/>
            <a:ext cx="6803136" cy="8229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1618488"/>
            <a:ext cx="6583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Instagram  @yujiaaa_xie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187452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Photo carousels with music pairing. Fashion + lifestyle in NYC cultural spaces (The Met). Captions in English with cultural references.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38928" y="2286000"/>
            <a:ext cx="1065276" cy="201168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02936" y="2304288"/>
            <a:ext cx="1065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7840"/>
                </a:solidFill>
                <a:latin typeface="Calibri"/>
              </a:rPr>
              <a:t>Lifestyle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95644" y="2286000"/>
            <a:ext cx="909828" cy="201168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9652" y="2304288"/>
            <a:ext cx="9098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7840"/>
                </a:solidFill>
                <a:latin typeface="Calibri"/>
              </a:rPr>
              <a:t>Fashion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96912" y="2286000"/>
            <a:ext cx="987552" cy="201168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2304288"/>
            <a:ext cx="9875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7840"/>
                </a:solidFill>
                <a:latin typeface="Calibri"/>
              </a:rPr>
              <a:t>Carousel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2560320"/>
            <a:ext cx="54864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92624" y="2560320"/>
            <a:ext cx="6803136" cy="8229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38928" y="2624328"/>
            <a:ext cx="6583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Douyin  @Xyjjj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38928" y="288036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Short-form videos with poetic, emotionally resonant Chinese captions. Aesthetic moments — art museums, quiet nights, candlelit scenes.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3291840"/>
            <a:ext cx="1065276" cy="201168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02936" y="3310128"/>
            <a:ext cx="10652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7840"/>
                </a:solidFill>
                <a:latin typeface="Calibri"/>
              </a:rPr>
              <a:t>Emotional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95644" y="3291840"/>
            <a:ext cx="832104" cy="201168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9652" y="3310128"/>
            <a:ext cx="8321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7840"/>
                </a:solidFill>
                <a:latin typeface="Calibri"/>
              </a:rPr>
              <a:t>Poetic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19188" y="3291840"/>
            <a:ext cx="1143000" cy="201168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83196" y="331012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7840"/>
                </a:solidFill>
                <a:latin typeface="Calibri"/>
              </a:rPr>
              <a:t>Short-form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0" y="3566160"/>
            <a:ext cx="54864" cy="822960"/>
          </a:xfrm>
          <a:prstGeom prst="rect">
            <a:avLst/>
          </a:prstGeom>
          <a:solidFill>
            <a:srgbClr val="F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92624" y="3566160"/>
            <a:ext cx="6803136" cy="8229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38928" y="3630168"/>
            <a:ext cx="6583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Xiaohongshu  谢雨佳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38928" y="388620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Lifestyle notes with location context. Same visual assets cross-distributed from Instagram — NYC life as the hook for Chinese audiences.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38928" y="4297680"/>
            <a:ext cx="1376172" cy="201168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02936" y="4315968"/>
            <a:ext cx="13761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7840"/>
                </a:solidFill>
                <a:latin typeface="Calibri"/>
              </a:rPr>
              <a:t>NYC Lifestyle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06540" y="4297680"/>
            <a:ext cx="1687068" cy="201168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0548" y="4315968"/>
            <a:ext cx="16870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7840"/>
                </a:solidFill>
                <a:latin typeface="Calibri"/>
              </a:rPr>
              <a:t>Cross-distributed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25912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28632" y="1645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999999"/>
                </a:solidFill>
                <a:latin typeface="Calibri"/>
              </a:rPr>
              <a:t>EAST MEETS FEED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05  /  BEFORE ACTIVATION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 Light"/>
              </a:rPr>
              <a:t>Where We 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99999"/>
                </a:solidFill>
                <a:latin typeface="Calibri"/>
              </a:rPr>
              <a:t>Day 0 Snapshot — baseline metrics before any content was posted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636" y="1508760"/>
            <a:ext cx="3474720" cy="47548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698" y="1645920"/>
            <a:ext cx="1010594" cy="2194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9516" y="3931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 Light"/>
              </a:rPr>
              <a:t>Instagram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" y="42245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Calibri"/>
              </a:rPr>
              <a:t>@yujiaaa_xie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" y="44988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 Light"/>
              </a:rPr>
              <a:t>2,387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" y="488289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FOLLOWERS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" y="52760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 Light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" y="566013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INTERACTIONS / 30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" y="5852160"/>
            <a:ext cx="3108960" cy="237744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" y="587959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7A2D"/>
                </a:solidFill>
                <a:latin typeface="Calibri"/>
              </a:rPr>
              <a:t>Established — Low Activity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57116" y="1508760"/>
            <a:ext cx="3474720" cy="47548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178" y="1645920"/>
            <a:ext cx="1010594" cy="2194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39996" y="3931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 Light"/>
              </a:rPr>
              <a:t>Xiaohongshu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9996" y="42245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Calibri"/>
              </a:rPr>
              <a:t>谢雨佳 · 423553458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9996" y="44988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 Light"/>
              </a:rPr>
              <a:t>530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9996" y="488289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FANS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9996" y="52760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 Light"/>
              </a:rPr>
              <a:t>1,892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9996" y="566013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TOTAL LIKES &amp; SAVES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39996" y="5852160"/>
            <a:ext cx="3108960" cy="237744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1436" y="587959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36200"/>
                </a:solidFill>
                <a:latin typeface="Calibri"/>
              </a:rPr>
              <a:t>Dormant — No Recent Posts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97596" y="1508760"/>
            <a:ext cx="3474720" cy="47548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658" y="1645920"/>
            <a:ext cx="1010594" cy="21945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380476" y="3931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 Light"/>
              </a:rPr>
              <a:t>Douyin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0476" y="42245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Calibri"/>
              </a:rPr>
              <a:t>@Xyjjj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0476" y="44988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 Light"/>
              </a:rP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0476" y="488289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FANS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0476" y="52760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 Light"/>
              </a:rPr>
              <a:t>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0476" y="566013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TOTAL LIKES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80476" y="5852160"/>
            <a:ext cx="3108960" cy="237744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1916" y="587959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Calibri"/>
              </a:rPr>
              <a:t>Just Starting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5912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28632" y="1645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999999"/>
                </a:solidFill>
                <a:latin typeface="Calibri"/>
              </a:rPr>
              <a:t>EAST MEETS FEED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06  /  AFTER ACTIVATION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 Light"/>
              </a:rPr>
              <a:t>Growth Across All Three Platforms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6" y="1508760"/>
            <a:ext cx="3474720" cy="40233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6636" y="1508760"/>
            <a:ext cx="3474720" cy="54864"/>
          </a:xfrm>
          <a:prstGeom prst="rect">
            <a:avLst/>
          </a:prstGeom>
          <a:solidFill>
            <a:srgbClr val="DC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" y="1645920"/>
            <a:ext cx="3200400" cy="22322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9516" y="3154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 Light"/>
              </a:rPr>
              <a:t>Instagram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" y="3474720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INTERACTIONS / 30D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" y="36576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BBBB"/>
                </a:solidFill>
                <a:latin typeface="Calibri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9324" y="3675888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96E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9636" y="36576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 Light"/>
              </a:rPr>
              <a:t>207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5476" y="3694176"/>
            <a:ext cx="822960" cy="219456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11196" y="37124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7A2D"/>
                </a:solidFill>
                <a:latin typeface="Calibri"/>
              </a:rPr>
              <a:t>+185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" y="4096512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VIEWS / 30D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" y="427939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BBBB"/>
                </a:solidFill>
                <a:latin typeface="Calibri"/>
              </a:rPr>
              <a:t>14.4K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9324" y="42976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96E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9636" y="42793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 Light"/>
              </a:rPr>
              <a:t>21.7K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5476" y="4315968"/>
            <a:ext cx="822960" cy="219456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1196" y="433425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7A2D"/>
                </a:solidFill>
                <a:latin typeface="Calibri"/>
              </a:rPr>
              <a:t>+51%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" y="4718304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FOLLOWERS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" y="490118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BBBB"/>
                </a:solidFill>
                <a:latin typeface="Calibri"/>
              </a:rPr>
              <a:t>2,387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9324" y="491947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96E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59636" y="49011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 Light"/>
              </a:rPr>
              <a:t>2,378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65476" y="4937760"/>
            <a:ext cx="822960" cy="219456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11196" y="495604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36200"/>
                </a:solidFill>
                <a:latin typeface="Calibri"/>
              </a:rPr>
              <a:t>-9 cleaned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57116" y="1508760"/>
            <a:ext cx="3474720" cy="40233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57116" y="1508760"/>
            <a:ext cx="3474720" cy="54864"/>
          </a:xfrm>
          <a:prstGeom prst="rect">
            <a:avLst/>
          </a:prstGeom>
          <a:solidFill>
            <a:srgbClr val="FE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92" y="1645920"/>
            <a:ext cx="651967" cy="1417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39996" y="3154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 Light"/>
              </a:rPr>
              <a:t>Xiaohongshu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9996" y="3474720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FANS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9996" y="36576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BBBB"/>
                </a:solidFill>
                <a:latin typeface="Calibri"/>
              </a:rPr>
              <a:t>530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89804" y="3675888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96E"/>
                </a:solidFill>
                <a:latin typeface="Calibri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00116" y="36576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 Light"/>
              </a:rPr>
              <a:t>556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05956" y="3694176"/>
            <a:ext cx="822960" cy="219456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1676" y="37124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7A2D"/>
                </a:solidFill>
                <a:latin typeface="Calibri"/>
              </a:rPr>
              <a:t>+26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9996" y="4096512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LIKES &amp; SAVES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39996" y="427939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BBBB"/>
                </a:solidFill>
                <a:latin typeface="Calibri"/>
              </a:rPr>
              <a:t>1,892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89804" y="42976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96E"/>
                </a:solidFill>
                <a:latin typeface="Calibri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00116" y="42793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 Light"/>
              </a:rPr>
              <a:t>1,964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05956" y="4315968"/>
            <a:ext cx="822960" cy="219456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51676" y="433425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7A2D"/>
                </a:solidFill>
                <a:latin typeface="Calibri"/>
              </a:rPr>
              <a:t>+72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39996" y="4718304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TOP POST VIEWS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39996" y="490118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BBBB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89804" y="491947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96E"/>
                </a:solidFill>
                <a:latin typeface="Calibri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00116" y="49011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 Light"/>
              </a:rPr>
              <a:t>1,130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05956" y="4937760"/>
            <a:ext cx="822960" cy="219456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51676" y="495604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Calibri"/>
              </a:rPr>
              <a:t>new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97596" y="1508760"/>
            <a:ext cx="3474720" cy="40233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97596" y="1508760"/>
            <a:ext cx="3474720" cy="548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8972" y="1645920"/>
            <a:ext cx="651967" cy="141732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380476" y="3154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 Light"/>
              </a:rPr>
              <a:t>Douyin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0476" y="3474720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FANS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0476" y="36576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BBBB"/>
                </a:solidFill>
                <a:latin typeface="Calibri"/>
              </a:rP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30284" y="3675888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96E"/>
                </a:solidFill>
                <a:latin typeface="Calibri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40596" y="36576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 Light"/>
              </a:rPr>
              <a:t>267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346436" y="3694176"/>
            <a:ext cx="822960" cy="219456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392156" y="37124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7A2D"/>
                </a:solidFill>
                <a:latin typeface="Calibri"/>
              </a:rPr>
              <a:t>+254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80476" y="4096512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TOTAL LIKES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80476" y="427939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BBBB"/>
                </a:solidFill>
                <a:latin typeface="Calibri"/>
              </a:rPr>
              <a:t>100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0284" y="42976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96E"/>
                </a:solidFill>
                <a:latin typeface="Calibri"/>
              </a:rP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40596" y="42793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 Light"/>
              </a:rPr>
              <a:t>1,643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346436" y="4315968"/>
            <a:ext cx="822960" cy="219456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92156" y="433425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7A2D"/>
                </a:solidFill>
                <a:latin typeface="Calibri"/>
              </a:rPr>
              <a:t>+1,543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80476" y="4718304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POSTS PUBLISHED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80476" y="490118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BBBB"/>
                </a:solidFill>
                <a:latin typeface="Calibri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30284" y="4919472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96E"/>
                </a:solidFill>
                <a:latin typeface="Calibri"/>
              </a:rPr>
              <a:t>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40596" y="49011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 Light"/>
              </a:rPr>
              <a:t>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346436" y="4937760"/>
            <a:ext cx="822960" cy="219456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392156" y="495604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7A2D"/>
                </a:solidFill>
                <a:latin typeface="Calibri"/>
              </a:rPr>
              <a:t>+8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715000"/>
            <a:ext cx="11274552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582472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TOTAL VALID KPIs  —  TARGET: 500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4800" y="57881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9A96E"/>
                </a:solidFill>
                <a:latin typeface="Calibri Light"/>
              </a:rPr>
              <a:t>2,277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92240" y="5852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4.6× over target  ·  in under 1 week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725912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28632" y="1645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999999"/>
                </a:solidFill>
                <a:latin typeface="Calibri"/>
              </a:rPr>
              <a:t>EAST MEETS FEED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07  /  WHAT WORKED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 Light"/>
              </a:rPr>
              <a:t>Two Hero Posts. Two Platforms. One Strategy.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317236" cy="4434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48600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C9A96E"/>
                </a:solidFill>
                <a:latin typeface="Calibri Light"/>
              </a:rPr>
              <a:t>28K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4860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Calibri"/>
              </a:rPr>
              <a:t>PLAYS · HERO POST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980" y="2697480"/>
            <a:ext cx="967435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4892040"/>
            <a:ext cx="4860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DOUYIN  @Xyjjj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120640"/>
            <a:ext cx="48600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我擅长感受 却拙于表达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4860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I Feel Deeply, Struggle to Express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760720"/>
            <a:ext cx="973836" cy="20116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779008"/>
            <a:ext cx="9738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CCCC"/>
                </a:solidFill>
                <a:latin typeface="Calibri"/>
              </a:rPr>
              <a:t>900 Likes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15668" y="5760720"/>
            <a:ext cx="1129284" cy="20116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79676" y="5779008"/>
            <a:ext cx="11292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CCCC"/>
                </a:solidFill>
                <a:latin typeface="Calibri"/>
              </a:rPr>
              <a:t>23 Comments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18104" y="5760720"/>
            <a:ext cx="896112" cy="20116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82112" y="5779008"/>
            <a:ext cx="896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CCCC"/>
                </a:solidFill>
                <a:latin typeface="Calibri"/>
              </a:rPr>
              <a:t>94 Saves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87368" y="5760720"/>
            <a:ext cx="1362456" cy="20116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51376" y="5779008"/>
            <a:ext cx="1362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CCCC"/>
                </a:solidFill>
                <a:latin typeface="Calibri"/>
              </a:rPr>
              <a:t>+155 Followers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1508760"/>
            <a:ext cx="5317236" cy="44348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1508760"/>
            <a:ext cx="5317236" cy="398691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60236" y="5632839"/>
            <a:ext cx="4860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743"/>
                </a:solidFill>
                <a:latin typeface="Calibri"/>
              </a:rPr>
              <a:t>INSTAGRAM  @yujiaaa_xie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0236" y="5861439"/>
            <a:ext cx="48600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 Light"/>
              </a:rPr>
              <a:t>The Met Museum — NYC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0236" y="6181479"/>
            <a:ext cx="4860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Cultural space · editorial fashion · golden-hour light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60236" y="6455799"/>
            <a:ext cx="973836" cy="201168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24244" y="6474087"/>
            <a:ext cx="9738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7840"/>
                </a:solidFill>
                <a:latin typeface="Calibri"/>
              </a:rPr>
              <a:t>110 Likes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07224" y="6455799"/>
            <a:ext cx="1129284" cy="201168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71232" y="6474087"/>
            <a:ext cx="11292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7840"/>
                </a:solidFill>
                <a:latin typeface="Calibri"/>
              </a:rPr>
              <a:t>12 Comments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09660" y="6455799"/>
            <a:ext cx="1051560" cy="201168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3668" y="6474087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7840"/>
                </a:solidFill>
                <a:latin typeface="Calibri"/>
              </a:rPr>
              <a:t>2.7K Views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34372" y="6455799"/>
            <a:ext cx="1673352" cy="201168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98380" y="6474087"/>
            <a:ext cx="1673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7840"/>
                </a:solidFill>
                <a:latin typeface="Calibri"/>
              </a:rPr>
              <a:t>141 Profile Visits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6053328"/>
            <a:ext cx="10908792" cy="548640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6144768"/>
            <a:ext cx="10451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Key insight:  The same Met Museum shoot produced the #1 post on both Instagram and Xiaohongshu simultaneously — one creative execution, two platform wins. Quality of location + subject &gt; quantity of posts.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5912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28632" y="1645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999999"/>
                </a:solidFill>
                <a:latin typeface="Calibri"/>
              </a:rPr>
              <a:t>EAST MEETS FEED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08  /  WHAT DIDN'T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 Light"/>
              </a:rPr>
              <a:t>Three Gaps. Three Lessons.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6" y="1508760"/>
            <a:ext cx="3474720" cy="374903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6636" y="1508760"/>
            <a:ext cx="3474720" cy="6400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" y="17099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alibri"/>
              </a:rPr>
              <a:t>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" y="2103120"/>
            <a:ext cx="3072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 Light"/>
              </a:rPr>
              <a:t>Douyin — Inconsistent 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" y="2514600"/>
            <a:ext cx="30723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Post 1 hit 24K plays. Posts 2 and 3 dropped to 3.4K and 1.5K respectively. The algorithm rewarded the emotional hook the first time — but follow-up content couldn't sustain that signal.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" y="4782311"/>
            <a:ext cx="3072384" cy="2743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" y="4818887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99"/>
                </a:solidFill>
                <a:latin typeface="Calibri"/>
              </a:rPr>
              <a:t>Posts 2+3 avg: 2,421 plays vs 24K hero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7116" y="1508760"/>
            <a:ext cx="3474720" cy="374903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7116" y="1508760"/>
            <a:ext cx="34747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8284" y="17099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alibri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8284" y="2103120"/>
            <a:ext cx="3072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 Light"/>
              </a:rPr>
              <a:t>Xiaohongshu — Discovery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8284" y="2514600"/>
            <a:ext cx="30723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The Met post got 1,130 views and a 6.2% interaction rate — but Posts 2 and 3 collapsed to 144 and 201 views. Without hashtag strategy, Xiaohongshu's discovery layer didn't amplify past the first post.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58284" y="4782311"/>
            <a:ext cx="3072384" cy="2743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9724" y="4818887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99"/>
                </a:solidFill>
                <a:latin typeface="Calibri"/>
              </a:rPr>
              <a:t>Posts 2+3 avg: 172 views vs 1,130 hero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7596" y="1508760"/>
            <a:ext cx="3474720" cy="374903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97596" y="1508760"/>
            <a:ext cx="347472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8764" y="17099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alibri"/>
              </a:rPr>
              <a:t>🏷️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8764" y="2103120"/>
            <a:ext cx="3072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 Light"/>
              </a:rPr>
              <a:t>No-Hashtag Trade-off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8764" y="2514600"/>
            <a:ext cx="30723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The deliberate no-hashtag bet worked on Douyin (algorithm-driven) but limited reach on Xiaohongshu, where topic tags are the primary discovery mechanism. Pure organic content quality was not enough to beat the platform's tag-based feed.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98764" y="4782311"/>
            <a:ext cx="3072384" cy="2743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90204" y="4818887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99"/>
                </a:solidFill>
                <a:latin typeface="Calibri"/>
              </a:rPr>
              <a:t>Phase 2 hypothesis: add 3–5 topic tags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458967"/>
            <a:ext cx="10908792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53211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ADJUSTMENT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5532119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Phase 2: tighter emotional brief for Douyin consistency  ·  topic hashtags on Xiaohongshu  ·  replicate Met-style cultural shoots on Instagram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5912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28632" y="1645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BBBBBB"/>
                </a:solidFill>
                <a:latin typeface="Calibri"/>
              </a:rPr>
              <a:t>EAST MEETS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44444"/>
                </a:solidFill>
                <a:latin typeface="Calibri"/>
              </a:rPr>
              <a:t>VALID KPIs  ·  LIKES + COMMENTS + SHARES + SAVES + NEW FOLLOWERS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371600"/>
            <a:ext cx="121889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C9A96E"/>
                </a:solidFill>
                <a:latin typeface="Calibri Light"/>
              </a:rPr>
              <a:t>2,277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661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55555"/>
                </a:solidFill>
                <a:latin typeface="Calibri"/>
              </a:rPr>
              <a:t>4.6×  over the 500-person target  ·  in under 1 week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142232"/>
            <a:ext cx="12188952" cy="914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297680"/>
            <a:ext cx="30472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 Light"/>
              </a:rPr>
              <a:t>1,849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937760"/>
            <a:ext cx="30472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44444"/>
                </a:solidFill>
                <a:latin typeface="Calibri"/>
              </a:rPr>
              <a:t>LIKES &amp; SAVES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7238" y="4160520"/>
            <a:ext cx="9144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7238" y="4297680"/>
            <a:ext cx="30472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 Light"/>
              </a:rPr>
              <a:t>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7238" y="4937760"/>
            <a:ext cx="30472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44444"/>
                </a:solidFill>
                <a:latin typeface="Calibri"/>
              </a:rPr>
              <a:t>COMMENTS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6" y="4160520"/>
            <a:ext cx="9144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4476" y="4297680"/>
            <a:ext cx="30472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 Light"/>
              </a:rPr>
              <a:t>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6" y="4937760"/>
            <a:ext cx="30472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44444"/>
                </a:solidFill>
                <a:latin typeface="Calibri"/>
              </a:rPr>
              <a:t>SHARES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1714" y="4160520"/>
            <a:ext cx="9144" cy="12801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1714" y="4297680"/>
            <a:ext cx="30472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 Light"/>
              </a:rPr>
              <a:t>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1714" y="4937760"/>
            <a:ext cx="30472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44444"/>
                </a:solidFill>
                <a:latin typeface="Calibri"/>
              </a:rPr>
              <a:t>NEW FOLLOWERS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477256"/>
            <a:ext cx="12188952" cy="914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5577840"/>
            <a:ext cx="4062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 Light"/>
              </a:rPr>
              <a:t>1,974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5989320"/>
            <a:ext cx="4062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99999"/>
                </a:solidFill>
                <a:latin typeface="Calibri"/>
              </a:rPr>
              <a:t>Douyin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236208"/>
            <a:ext cx="4062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A96E"/>
                </a:solidFill>
                <a:latin typeface="Calibri"/>
              </a:rPr>
              <a:t>86% of total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2984" y="5486400"/>
            <a:ext cx="9144" cy="1188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62984" y="5577840"/>
            <a:ext cx="4062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 Light"/>
              </a:rPr>
              <a:t>201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2984" y="5989320"/>
            <a:ext cx="4062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99999"/>
                </a:solidFill>
                <a:latin typeface="Calibri"/>
              </a:rPr>
              <a:t>Instagram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2984" y="6236208"/>
            <a:ext cx="4062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A96E"/>
                </a:solidFill>
                <a:latin typeface="Calibri"/>
              </a:rPr>
              <a:t>9% of total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5968" y="5486400"/>
            <a:ext cx="9144" cy="1188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5968" y="5577840"/>
            <a:ext cx="4062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 Light"/>
              </a:rPr>
              <a:t>102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5968" y="5989320"/>
            <a:ext cx="4062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99999"/>
                </a:solidFill>
                <a:latin typeface="Calibri"/>
              </a:rPr>
              <a:t>Xiaohongshu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5968" y="6236208"/>
            <a:ext cx="4062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A96E"/>
                </a:solidFill>
                <a:latin typeface="Calibri"/>
              </a:rPr>
              <a:t>5% of 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5912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28632" y="1645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999999"/>
                </a:solidFill>
                <a:latin typeface="Calibri"/>
              </a:rPr>
              <a:t>EAST MEETS FEED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Calibri"/>
              </a:rPr>
              <a:t>10  /  LEARNINGS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 Light"/>
              </a:rPr>
              <a:t>Four Insights That Will Shape Phase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317236" cy="2377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5317236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4860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01  —  KEY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9384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96E"/>
                </a:solidFill>
                <a:latin typeface="Calibri Light"/>
              </a:rPr>
              <a:t>Emotion &gt; Aesthetics on Chinese Platforms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48600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Douyin's viral post succeeded not because of beautiful visuals — but because the caption "我擅长感受 却拙于表达" created emotional identification. Chinese platform audiences reward resonance over production quality. The algorithm follows the feeling.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508760"/>
            <a:ext cx="5317236" cy="2377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508760"/>
            <a:ext cx="5317236" cy="5486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0236" y="1691640"/>
            <a:ext cx="4860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0236" y="1929384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 Light"/>
              </a:rPr>
              <a:t>One Shoot = Three Audiences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0236" y="2423160"/>
            <a:ext cx="48600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The Met Museum shoot became the top post on both Instagram and Xiaohongshu simultaneously. Cross-platform repurposing isn't just efficient — it's strategic. The right shoot, edited for each platform's tone, compounds its own return.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60520"/>
            <a:ext cx="5317236" cy="2377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160520"/>
            <a:ext cx="5317236" cy="5486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343400"/>
            <a:ext cx="4860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81144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 Light"/>
              </a:rPr>
              <a:t>Content Quality Beats Tactics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074920"/>
            <a:ext cx="48600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No paid promotion. No hashtags. No collaborations. 2,277 KPIs came purely from posting the right content in the right emotional frame. Phase 1 confirmed: when content is strong enough, the platform works for you.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60520"/>
            <a:ext cx="5317236" cy="23774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60520"/>
            <a:ext cx="5317236" cy="5486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0236" y="4343400"/>
            <a:ext cx="4860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0236" y="4581144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 Light"/>
              </a:rPr>
              <a:t>Platform Culture Shapes What Lands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0236" y="5074920"/>
            <a:ext cx="48600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The same no-hashtag strategy worked on Douyin (algorithm-first) but failed on Xiaohongshu (tag-discovery-first). Understanding each platform's native discovery logic — not just its aesthetic — is the difference between 1,130 views and 144.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5912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